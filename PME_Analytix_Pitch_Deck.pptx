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Se présenter brièvement, annoncer le plan en une phrase avant d'enchaîner sur le problème.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3e point cite une source réelle (rapport BCEAO 2024 sur les conditions de banque dans l'UEMOA) — insistez sur le fait que ce n'est pas une statistique inventée, un jury Data Science appréciera la rigueur des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réelle du frontend React de la plateforme, en mode démonstration (données simulées) — précisez-le si le jury demande.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forts à mettre en avant si question du jury : isolation multi-tenant par schéma PostgreSQL (pas juste un filtre applicatif), et passerelle Nginx unique.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le jury demande sur quelles données le modèle est entraîné : répondre avec transparence qu'il s'agit à ce stade d'un jeu de données synthétique calibré sur la formule métier de référence, faute d'historique réel de remboursement — architecture prête pour la production, réentraînement sur données réelles prévu en perspective.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L'API B2B (scoring en lot) existe réellement côté FastAPI ; le chatbot est en réalité accessible sur tous les plans, pas seulement Croissance — rester factuel si le jury creuse ce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Basculer ici vers la démo live de la plateforme (ou vos captures réelles). Ne pas surcharger cette slide de texte : elle sert de 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image" Target="../media/image-7-2.png"/><Relationship Id="rId9" Type="http://schemas.openxmlformats.org/officeDocument/2006/relationships/image" Target="../media/image-7-2.png"/><Relationship Id="rId10" Type="http://schemas.openxmlformats.org/officeDocument/2006/relationships/image" Target="../media/image-7-2.png"/><Relationship Id="rId11" Type="http://schemas.openxmlformats.org/officeDocument/2006/relationships/image" Target="../media/image-7-2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4" name="Image 0" descr="/home/claude/pitch/assets/dit_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57200"/>
            <a:ext cx="694944" cy="365760"/>
          </a:xfrm>
          <a:prstGeom prst="rect">
            <a:avLst/>
          </a:prstGeom>
        </p:spPr>
      </p:pic>
      <p:pic>
        <p:nvPicPr>
          <p:cNvPr id="5" name="Image 1" descr="/home/claude/pitch/assets/senegal_emble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41148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23317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PROJET  ·  LICENCE 2 BIG DATA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0" y="269748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PME </a:t>
            </a:r>
            <a:pPr algn="ctr" indent="0" marL="0">
              <a:buNone/>
            </a:pPr>
            <a:r>
              <a:rPr lang="en-US" sz="6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ANALYTIX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1371600" y="388620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L'intelligence artificielle au service de la résilience financière des PME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364328" y="4617720"/>
            <a:ext cx="1463040" cy="0"/>
          </a:xfrm>
          <a:prstGeom prst="line">
            <a:avLst/>
          </a:prstGeom>
          <a:noFill/>
          <a:ln w="12700">
            <a:solidFill>
              <a:srgbClr val="2632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Jordi Loubano Voumbi   ·   Thierno Hady Diaw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0" y="52578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M. Madické Diop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 Institute of Technology  —  Année académique 2025 /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assets/dit_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0040"/>
            <a:ext cx="555955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défi des PME ouest-africaines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468880"/>
            <a:ext cx="685800" cy="685800"/>
          </a:xfrm>
          <a:prstGeom prst="ellipse">
            <a:avLst/>
          </a:prstGeom>
          <a:solidFill>
            <a:srgbClr val="1B2438"/>
          </a:solidFill>
          <a:ln w="12700">
            <a:solidFill>
              <a:srgbClr val="26324A"/>
            </a:solidFill>
            <a:prstDash val="solid"/>
          </a:ln>
        </p:spPr>
      </p:sp>
      <p:pic>
        <p:nvPicPr>
          <p:cNvPr id="6" name="Image 1" descr="/home/claude/pitch/icons/aler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2633472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2377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à l’aveugle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600200" y="27889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visibilité sur la trésorerie à venir : les décisions se prennent au jour le jour, sans anticipation.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3703320"/>
            <a:ext cx="685800" cy="685800"/>
          </a:xfrm>
          <a:prstGeom prst="ellipse">
            <a:avLst/>
          </a:prstGeom>
          <a:solidFill>
            <a:srgbClr val="1B2438"/>
          </a:solidFill>
          <a:ln w="12700">
            <a:solidFill>
              <a:srgbClr val="26324A"/>
            </a:solidFill>
            <a:prstDash val="solid"/>
          </a:ln>
        </p:spPr>
      </p:sp>
      <p:pic>
        <p:nvPicPr>
          <p:cNvPr id="10" name="Image 2" descr="/home/claude/pitch/icons/fil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86791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00200" y="3611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SYSCOHADA complexe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600200" y="40233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des états financiers conformes exige une expertise comptable que peu de PME ont en interne.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4937760"/>
            <a:ext cx="685800" cy="685800"/>
          </a:xfrm>
          <a:prstGeom prst="ellipse">
            <a:avLst/>
          </a:prstGeom>
          <a:solidFill>
            <a:srgbClr val="1B2438"/>
          </a:solidFill>
          <a:ln w="12700">
            <a:solidFill>
              <a:srgbClr val="26324A"/>
            </a:solidFill>
            <a:prstDash val="solid"/>
          </a:ln>
        </p:spPr>
      </p:sp>
      <p:pic>
        <p:nvPicPr>
          <p:cNvPr id="14" name="Image 3" descr="/home/claude/pitch/icons/creditcard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510235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4846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au crédit bloqué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1600200" y="52578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BCEAO (2024) : le coût du crédit augmente pour les PME quand il baisse pour les grandes entreprises.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assets/dit_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0040"/>
            <a:ext cx="555955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copilote financier des PME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214884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SaaS qui centralise, nettoie et analyse les données financières brutes d'une PME pour en extraire des prédictions fiables.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42900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83280" y="342900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83280" y="411480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37960" y="1234440"/>
            <a:ext cx="5120640" cy="3520440"/>
          </a:xfrm>
          <a:prstGeom prst="roundRect">
            <a:avLst>
              <a:gd name="adj" fmla="val 2078"/>
            </a:avLst>
          </a:prstGeom>
          <a:solidFill>
            <a:srgbClr val="10131F"/>
          </a:solidFill>
          <a:ln w="15875">
            <a:solidFill>
              <a:srgbClr val="26324A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20840" y="136245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Shape 13"/>
          <p:cNvSpPr/>
          <p:nvPr/>
        </p:nvSpPr>
        <p:spPr>
          <a:xfrm>
            <a:off x="6949440" y="136245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4"/>
          <p:cNvSpPr/>
          <p:nvPr/>
        </p:nvSpPr>
        <p:spPr>
          <a:xfrm>
            <a:off x="7178040" y="136245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1" descr="/home/claude/pitch/assets/04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618488"/>
            <a:ext cx="4974336" cy="31089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37960" y="48188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en mode démonstration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assets/dit_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0040"/>
            <a:ext cx="555955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data science au cœur du produit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1752448" y="228600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352648" y="2697480"/>
            <a:ext cx="914400" cy="91440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7" name="Image 1" descr="/home/claude/pitch/icons/trending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816" y="2953512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81048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Prévision (Prophet)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2072488" y="44348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à 90 jours, avec intervalles de confiance à 80 % et 95 %.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324448" y="228600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924648" y="2697480"/>
            <a:ext cx="914400" cy="91440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12" name="Image 2" descr="/home/claude/pitch/icons/targe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816" y="2953512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53048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(XGBoost)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644488" y="44348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crédit sur 100 points, à partir de 6 indicateurs financiers.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assets/dit_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0040"/>
            <a:ext cx="555955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technique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914400" y="210312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6" name="Image 1" descr="/home/claude/pitch/icons/monitor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3774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8872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88720" y="36758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réactive (SPA)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114800" y="2971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4617720" y="210312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2" name="Image 2" descr="/home/claude/pitch/icons/server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3774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9204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Core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89204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PostgreSQL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892040" y="36758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 isolés par PME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(multi-tenant)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7818120" y="2971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8321040" y="210312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18" name="Image 3" descr="/home/claude/pitch/icons/cpu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3774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9536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ML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59536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Celery + Redis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595360" y="36758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IA asynchrone,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bloquer l’interface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914400" y="4709160"/>
            <a:ext cx="10607040" cy="502920"/>
          </a:xfrm>
          <a:prstGeom prst="roundRect">
            <a:avLst>
              <a:gd name="adj" fmla="val 50909"/>
            </a:avLst>
          </a:prstGeom>
          <a:solidFill>
            <a:srgbClr val="1B2438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14400" y="4709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unifiés derrière Nginx — passerelle HTTP unique (résout le CORS)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assets/dit_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0040"/>
            <a:ext cx="555955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TECHNIQUE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l'IA évalue le risque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3444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d'entrée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34440" y="2606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transactions (jusqu’à 24 mois selon le plan)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34440" y="38404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variables : liquidité, croissance du CA, régularité fournisseurs, diversification client, ancienneté, conformité fiscale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1B243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4709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XGBoost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234440" y="50749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sur arbres de décision — score final borné 0-100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49440" y="2011680"/>
            <a:ext cx="4754880" cy="3978946"/>
          </a:xfrm>
          <a:prstGeom prst="roundRect">
            <a:avLst>
              <a:gd name="adj" fmla="val 2298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solid"/>
          </a:ln>
        </p:spPr>
      </p:sp>
      <p:pic>
        <p:nvPicPr>
          <p:cNvPr id="18" name="Image 1" descr="/home/claude/pitch/assets/score_gauge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286000"/>
            <a:ext cx="4206240" cy="306454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39626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/100 + segment de risque (Faible → Critique)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assets/dit_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0040"/>
            <a:ext cx="555955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SaaS scalable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2423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FCFA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vie</a:t>
            </a:r>
            <a:endParaRPr lang="en-US" sz="1100" dirty="0"/>
          </a:p>
        </p:txBody>
      </p:sp>
      <p:pic>
        <p:nvPicPr>
          <p:cNvPr id="9" name="Image 1" descr="/home/claude/pitch/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4904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6941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base</a:t>
            </a:r>
            <a:endParaRPr lang="en-US" sz="1150" dirty="0"/>
          </a:p>
        </p:txBody>
      </p:sp>
      <p:pic>
        <p:nvPicPr>
          <p:cNvPr id="11" name="Image 2" descr="/home/claude/pitch/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5196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41970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manuel</a:t>
            </a:r>
            <a:endParaRPr lang="en-US" sz="1150" dirty="0"/>
          </a:p>
        </p:txBody>
      </p:sp>
      <p:pic>
        <p:nvPicPr>
          <p:cNvPr id="13" name="Image 3" descr="/home/claude/pitch/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5488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0432" y="47000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90 jours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4297680" y="201168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1B2438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326380" y="17830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7" name="Text 11"/>
          <p:cNvSpPr/>
          <p:nvPr/>
        </p:nvSpPr>
        <p:spPr>
          <a:xfrm>
            <a:off x="532638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POPULAIRE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297680" y="2286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297680" y="26060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15 000 FCFA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4297680" y="3154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mois</a:t>
            </a:r>
            <a:endParaRPr lang="en-US" sz="1100" dirty="0"/>
          </a:p>
        </p:txBody>
      </p:sp>
      <p:pic>
        <p:nvPicPr>
          <p:cNvPr id="21" name="Image 4" descr="/home/claude/pitch/icons/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61188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19472" y="35570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Prévisions IA (Prophet)</a:t>
            </a:r>
            <a:endParaRPr lang="en-US" sz="1150" dirty="0"/>
          </a:p>
        </p:txBody>
      </p:sp>
      <p:pic>
        <p:nvPicPr>
          <p:cNvPr id="23" name="Image 5" descr="/home/claude/pitch/icons/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114800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919472" y="40599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crédit (XGBoost)</a:t>
            </a:r>
            <a:endParaRPr lang="en-US" sz="1150" dirty="0"/>
          </a:p>
        </p:txBody>
      </p:sp>
      <p:pic>
        <p:nvPicPr>
          <p:cNvPr id="25" name="Image 6" descr="/home/claude/pitch/icons/check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617720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919472" y="45628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certifiés PDF</a:t>
            </a:r>
            <a:endParaRPr lang="en-US" sz="1150" dirty="0"/>
          </a:p>
        </p:txBody>
      </p:sp>
      <p:pic>
        <p:nvPicPr>
          <p:cNvPr id="27" name="Image 7" descr="/home/claude/pitch/icons/check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5120640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919472" y="50657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24 mois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8046720" y="214884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8046720" y="2423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</a:t>
            </a:r>
            <a:endParaRPr lang="en-US" sz="1500" dirty="0"/>
          </a:p>
        </p:txBody>
      </p:sp>
      <p:sp>
        <p:nvSpPr>
          <p:cNvPr id="31" name="Text 21"/>
          <p:cNvSpPr/>
          <p:nvPr/>
        </p:nvSpPr>
        <p:spPr>
          <a:xfrm>
            <a:off x="8046720" y="27432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45 000 FCFA</a:t>
            </a:r>
            <a:endParaRPr lang="en-US" sz="2600" dirty="0"/>
          </a:p>
        </p:txBody>
      </p:sp>
      <p:sp>
        <p:nvSpPr>
          <p:cNvPr id="32" name="Text 22"/>
          <p:cNvSpPr/>
          <p:nvPr/>
        </p:nvSpPr>
        <p:spPr>
          <a:xfrm>
            <a:off x="8046720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mois</a:t>
            </a:r>
            <a:endParaRPr lang="en-US" sz="1100" dirty="0"/>
          </a:p>
        </p:txBody>
      </p:sp>
      <p:pic>
        <p:nvPicPr>
          <p:cNvPr id="33" name="Image 8" descr="/home/claude/pitch/icons/check_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749040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8668512" y="36941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illimité</a:t>
            </a:r>
            <a:endParaRPr lang="en-US" sz="1150" dirty="0"/>
          </a:p>
        </p:txBody>
      </p:sp>
      <p:pic>
        <p:nvPicPr>
          <p:cNvPr id="35" name="Image 9" descr="/home/claude/pitch/icons/check_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4251960"/>
            <a:ext cx="256032" cy="25603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8668512" y="41970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de croissance</a:t>
            </a:r>
            <a:endParaRPr lang="en-US" sz="1150" dirty="0"/>
          </a:p>
        </p:txBody>
      </p:sp>
      <p:pic>
        <p:nvPicPr>
          <p:cNvPr id="37" name="Image 10" descr="/home/claude/pitch/icons/check_gre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040" y="4754880"/>
            <a:ext cx="256032" cy="25603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8668512" y="47000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B2B (banques partenaires)</a:t>
            </a:r>
            <a:endParaRPr lang="en-US" sz="1150" dirty="0"/>
          </a:p>
        </p:txBody>
      </p:sp>
      <p:sp>
        <p:nvSpPr>
          <p:cNvPr id="39" name="Text 2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2648" y="182880"/>
            <a:ext cx="5486400" cy="5486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1B2438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4" name="Image 0" descr="/home/claude/pitch/icons/play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9816" y="221284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  ·   Prévision de trésorerie   ·   Simulateur de croissance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assets/dit_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20040"/>
            <a:ext cx="555955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prochaines étapes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3774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633472"/>
            <a:ext cx="548640" cy="548640"/>
          </a:xfrm>
          <a:prstGeom prst="ellipse">
            <a:avLst/>
          </a:prstGeom>
          <a:solidFill>
            <a:srgbClr val="1B2438"/>
          </a:solidFill>
          <a:ln w="12700">
            <a:solidFill>
              <a:srgbClr val="26324A"/>
            </a:solidFill>
            <a:prstDash val="solid"/>
          </a:ln>
        </p:spPr>
      </p:sp>
      <p:pic>
        <p:nvPicPr>
          <p:cNvPr id="7" name="Image 1" descr="/home/claude/pitch/icons/gitbranch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7063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4871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Réentraîner le scoring sur des données réelles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600200" y="2862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 jeu de données synthétique par un historique réel de remboursement, dès qu’il sera disponible.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3913632"/>
            <a:ext cx="548640" cy="548640"/>
          </a:xfrm>
          <a:prstGeom prst="ellipse">
            <a:avLst/>
          </a:prstGeom>
          <a:solidFill>
            <a:srgbClr val="1B2438"/>
          </a:solidFill>
          <a:ln w="12700">
            <a:solidFill>
              <a:srgbClr val="26324A"/>
            </a:solidFill>
            <a:prstDash val="solid"/>
          </a:ln>
        </p:spPr>
      </p:sp>
      <p:pic>
        <p:nvPicPr>
          <p:cNvPr id="12" name="Image 2" descr="/home/claude/pitch/icons/fil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5079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7673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Intégrer un moteur d'OCR réel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600200" y="41422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l'extraction de factures par reconnaissance d'image, au-delà de l'analyse de texte actuelle.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5193792"/>
            <a:ext cx="548640" cy="548640"/>
          </a:xfrm>
          <a:prstGeom prst="ellipse">
            <a:avLst/>
          </a:prstGeom>
          <a:solidFill>
            <a:srgbClr val="1B2438"/>
          </a:solidFill>
          <a:ln w="12700">
            <a:solidFill>
              <a:srgbClr val="26324A"/>
            </a:solidFill>
            <a:prstDash val="solid"/>
          </a:ln>
        </p:spPr>
      </p:sp>
      <p:pic>
        <p:nvPicPr>
          <p:cNvPr id="17" name="Image 3" descr="/home/claude/pitch/icons/arrowrigh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3095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504748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Nouer des partenariats avec des incubateurs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600200" y="54223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PME Analytix à plus grande échelle dans l'espace UEMOA.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3" name="Image 0" descr="/home/claude/pitch/assets/dit_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65760"/>
            <a:ext cx="590702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9202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0" y="2606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aux questions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Jordi Loubano Voumbi   ·   Thierno Hady Diaw</a:t>
            </a:r>
            <a:endParaRPr lang="en-US" sz="1400" dirty="0"/>
          </a:p>
        </p:txBody>
      </p:sp>
      <p:pic>
        <p:nvPicPr>
          <p:cNvPr id="7" name="Image 1" descr="/home/claude/pitch/icons/mail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8" y="416052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52648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email ]</a:t>
            </a:r>
            <a:endParaRPr lang="en-US" sz="1050" dirty="0"/>
          </a:p>
        </p:txBody>
      </p:sp>
      <p:pic>
        <p:nvPicPr>
          <p:cNvPr id="9" name="Image 2" descr="/home/claude/pitch/icons/linkedin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416052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81448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LinkedIn ]</a:t>
            </a:r>
            <a:endParaRPr lang="en-US" sz="1050" dirty="0"/>
          </a:p>
        </p:txBody>
      </p:sp>
      <p:pic>
        <p:nvPicPr>
          <p:cNvPr id="11" name="Image 3" descr="/home/claude/pitch/icons/github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048" y="416052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10248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dépôt GitHub ]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5501488" y="507492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141B2E"/>
          </a:solidFill>
          <a:ln w="12700">
            <a:solidFill>
              <a:srgbClr val="26324A"/>
            </a:solidFill>
            <a:prstDash val="dash"/>
          </a:ln>
        </p:spPr>
      </p:sp>
      <p:sp>
        <p:nvSpPr>
          <p:cNvPr id="14" name="Text 8"/>
          <p:cNvSpPr/>
          <p:nvPr/>
        </p:nvSpPr>
        <p:spPr>
          <a:xfrm>
            <a:off x="5501488" y="50749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(à ajouter)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2026-07-16T20:14:35Z</dcterms:created>
  <dcterms:modified xsi:type="dcterms:W3CDTF">2026-07-16T20:14:35Z</dcterms:modified>
</cp:coreProperties>
</file>